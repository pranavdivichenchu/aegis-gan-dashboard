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0" cy="4114800"/>
          </a:xfrm>
          <a:prstGeom prst="rect">
            <a:avLst/>
          </a:prstGeom>
          <a:solidFill>
            <a:srgbClr val="0B192C"/>
          </a:solidFill>
          <a:ln/>
        </p:spPr>
      </p:sp>
      <p:sp>
        <p:nvSpPr>
          <p:cNvPr id="3" name="Text 1"/>
          <p:cNvSpPr/>
          <p:nvPr/>
        </p:nvSpPr>
        <p:spPr>
          <a:xfrm>
            <a:off x="914400" y="457200"/>
            <a:ext cx="42062400" cy="1828800"/>
          </a:xfrm>
          <a:prstGeom prst="rect">
            <a:avLst/>
          </a:prstGeom>
          <a:noFill/>
          <a:ln/>
        </p:spPr>
        <p:txBody>
          <a:bodyPr wrap="square" rtlCol="0" anchor="ctr"/>
          <a:lstStyle/>
          <a:p>
            <a:pPr algn="ctr" indent="0" marL="0">
              <a:buNone/>
            </a:pPr>
            <a:r>
              <a:rPr lang="en-US" sz="4400" b="1" dirty="0">
                <a:solidFill>
                  <a:srgbClr val="14B8A6"/>
                </a:solidFill>
                <a:latin typeface="Helvetica" pitchFamily="34" charset="0"/>
                <a:ea typeface="Helvetica" pitchFamily="34" charset="-122"/>
                <a:cs typeface="Helvetica" pitchFamily="34" charset="-120"/>
              </a:rPr>
              <a:t>First Multi-Architecture GAN Pipeline for Computational Design and Chemical Optimization of Sepsis Protease Inhibitors</a:t>
            </a:r>
            <a:endParaRPr lang="en-US" sz="4400" dirty="0"/>
          </a:p>
        </p:txBody>
      </p:sp>
      <p:sp>
        <p:nvSpPr>
          <p:cNvPr id="4" name="Text 2"/>
          <p:cNvSpPr/>
          <p:nvPr/>
        </p:nvSpPr>
        <p:spPr>
          <a:xfrm>
            <a:off x="914400" y="2011680"/>
            <a:ext cx="42062400" cy="914400"/>
          </a:xfrm>
          <a:prstGeom prst="rect">
            <a:avLst/>
          </a:prstGeom>
          <a:noFill/>
          <a:ln/>
        </p:spPr>
        <p:txBody>
          <a:bodyPr wrap="square" rtlCol="0" anchor="ctr"/>
          <a:lstStyle/>
          <a:p>
            <a:pPr algn="ctr" indent="0" marL="0">
              <a:buNone/>
            </a:pPr>
            <a:r>
              <a:rPr lang="en-US" sz="3200" b="1" dirty="0">
                <a:solidFill>
                  <a:srgbClr val="FFFFFF"/>
                </a:solidFill>
                <a:latin typeface="Helvetica" pitchFamily="34" charset="0"/>
                <a:ea typeface="Helvetica" pitchFamily="34" charset="-122"/>
                <a:cs typeface="Helvetica" pitchFamily="34" charset="-120"/>
              </a:rPr>
              <a:t>Pranav Divichenchu</a:t>
            </a:r>
            <a:endParaRPr lang="en-US" sz="3200" dirty="0"/>
          </a:p>
        </p:txBody>
      </p:sp>
      <p:sp>
        <p:nvSpPr>
          <p:cNvPr id="5" name="Text 3"/>
          <p:cNvSpPr/>
          <p:nvPr/>
        </p:nvSpPr>
        <p:spPr>
          <a:xfrm>
            <a:off x="914400" y="2743200"/>
            <a:ext cx="42062400" cy="914400"/>
          </a:xfrm>
          <a:prstGeom prst="rect">
            <a:avLst/>
          </a:prstGeom>
          <a:noFill/>
          <a:ln/>
        </p:spPr>
        <p:txBody>
          <a:bodyPr wrap="square" rtlCol="0" anchor="ctr"/>
          <a:lstStyle/>
          <a:p>
            <a:pPr algn="ctr" indent="0" marL="0">
              <a:buNone/>
            </a:pPr>
            <a:r>
              <a:rPr lang="en-US" sz="2400" dirty="0">
                <a:solidFill>
                  <a:srgbClr val="E2E8F0"/>
                </a:solidFill>
                <a:latin typeface="Helvetica" pitchFamily="34" charset="0"/>
                <a:ea typeface="Helvetica" pitchFamily="34" charset="-122"/>
                <a:cs typeface="Helvetica" pitchFamily="34" charset="-120"/>
              </a:rPr>
              <a:t>Academy of Engineering and Technology, Loudoun County Public Schools</a:t>
            </a:r>
            <a:endParaRPr lang="en-US" sz="2400" dirty="0"/>
          </a:p>
        </p:txBody>
      </p:sp>
      <p:sp>
        <p:nvSpPr>
          <p:cNvPr id="6" name="Shape 4"/>
          <p:cNvSpPr/>
          <p:nvPr/>
        </p:nvSpPr>
        <p:spPr>
          <a:xfrm>
            <a:off x="1371600" y="4572000"/>
            <a:ext cx="13258800" cy="1097280"/>
          </a:xfrm>
          <a:prstGeom prst="rect">
            <a:avLst/>
          </a:prstGeom>
          <a:solidFill>
            <a:srgbClr val="0B192C"/>
          </a:solidFill>
          <a:ln/>
        </p:spPr>
      </p:sp>
      <p:sp>
        <p:nvSpPr>
          <p:cNvPr id="7" name="Text 5"/>
          <p:cNvSpPr/>
          <p:nvPr/>
        </p:nvSpPr>
        <p:spPr>
          <a:xfrm>
            <a:off x="1371600" y="4572000"/>
            <a:ext cx="13258800" cy="1097280"/>
          </a:xfrm>
          <a:prstGeom prst="rect">
            <a:avLst/>
          </a:prstGeom>
          <a:noFill/>
          <a:ln/>
        </p:spPr>
        <p:txBody>
          <a:bodyPr wrap="square" rtlCol="0" anchor="ctr"/>
          <a:lstStyle/>
          <a:p>
            <a:pPr algn="ctr" indent="0" marL="0">
              <a:buNone/>
            </a:pPr>
            <a:r>
              <a:rPr lang="en-US" sz="3200" b="1" dirty="0">
                <a:solidFill>
                  <a:srgbClr val="FFFFFF"/>
                </a:solidFill>
                <a:latin typeface="Helvetica" pitchFamily="34" charset="0"/>
                <a:ea typeface="Helvetica" pitchFamily="34" charset="-122"/>
                <a:cs typeface="Helvetica" pitchFamily="34" charset="-120"/>
              </a:rPr>
              <a:t>PURPOSE</a:t>
            </a:r>
            <a:endParaRPr lang="en-US" sz="3200" dirty="0"/>
          </a:p>
        </p:txBody>
      </p:sp>
      <p:sp>
        <p:nvSpPr>
          <p:cNvPr id="8" name="Text 6"/>
          <p:cNvSpPr/>
          <p:nvPr/>
        </p:nvSpPr>
        <p:spPr>
          <a:xfrm>
            <a:off x="1371600" y="5852160"/>
            <a:ext cx="13258800" cy="5943600"/>
          </a:xfrm>
          <a:prstGeom prst="rect">
            <a:avLst/>
          </a:prstGeom>
          <a:solidFill>
            <a:srgbClr val="F8FAFC"/>
          </a:solidFill>
          <a:ln/>
        </p:spPr>
        <p:txBody>
          <a:bodyPr wrap="square" rtlCol="0" anchor="t"/>
          <a:lstStyle/>
          <a:p>
            <a:pPr indent="0" marL="0">
              <a:buNone/>
            </a:pPr>
            <a:r>
              <a:rPr lang="en-US" sz="1800" dirty="0">
                <a:solidFill>
                  <a:srgbClr val="0F172A"/>
                </a:solidFill>
                <a:latin typeface="Helvetica" pitchFamily="34" charset="0"/>
                <a:ea typeface="Helvetica" pitchFamily="34" charset="-122"/>
                <a:cs typeface="Helvetica" pitchFamily="34" charset="-120"/>
              </a:rPr>
              <a:t>Sepsis has a staggering mortality rate of 40–60%, resulting in over 11 million lives lost annually. In the US alone, sepsis accounts for $62 billion in annual healthcare expenditures.
</a:t>
            </a:r>
            <a:pPr indent="0" marL="0">
              <a:buNone/>
            </a:pPr>
            <a:r>
              <a:rPr lang="en-US" sz="1800" dirty="0">
                <a:solidFill>
                  <a:srgbClr val="0F172A"/>
                </a:solidFill>
                <a:latin typeface="Helvetica" pitchFamily="34" charset="0"/>
                <a:ea typeface="Helvetica" pitchFamily="34" charset="-122"/>
                <a:cs typeface="Helvetica" pitchFamily="34" charset="-120"/>
              </a:rPr>
              <a:t>This systemic crisis is driven by the simultaneous collapse of 4 proteolytic axes: caspase apoptosis, MMP tissue destruction, serine cascade amplification, and cysteine cytotoxicity.
</a:t>
            </a:r>
            <a:pPr indent="0" marL="0">
              <a:buNone/>
            </a:pPr>
            <a:r>
              <a:rPr lang="en-US" sz="1800" dirty="0">
                <a:solidFill>
                  <a:srgbClr val="0F172A"/>
                </a:solidFill>
                <a:latin typeface="Helvetica" pitchFamily="34" charset="0"/>
                <a:ea typeface="Helvetica" pitchFamily="34" charset="-122"/>
                <a:cs typeface="Helvetica" pitchFamily="34" charset="-120"/>
              </a:rPr>
              <a:t>Traditional high-throughput screening is highly inefficient, testing 10,000–100,000 compounds over 3–5 years at a cost of $10–50 million per target. With 27 simultaneous protease targets implicated in sepsis, a unified drug-discovery pipeline is necessary.</a:t>
            </a:r>
            <a:endParaRPr lang="en-US" sz="1800" dirty="0"/>
          </a:p>
        </p:txBody>
      </p:sp>
      <p:sp>
        <p:nvSpPr>
          <p:cNvPr id="9" name="Shape 7"/>
          <p:cNvSpPr/>
          <p:nvPr/>
        </p:nvSpPr>
        <p:spPr>
          <a:xfrm>
            <a:off x="1371600" y="12252960"/>
            <a:ext cx="13258800" cy="2743200"/>
          </a:xfrm>
          <a:prstGeom prst="rect">
            <a:avLst/>
          </a:prstGeom>
          <a:solidFill>
            <a:srgbClr val="E0F2FE"/>
          </a:solidFill>
          <a:ln/>
        </p:spPr>
      </p:sp>
      <p:sp>
        <p:nvSpPr>
          <p:cNvPr id="10" name="Text 8"/>
          <p:cNvSpPr/>
          <p:nvPr/>
        </p:nvSpPr>
        <p:spPr>
          <a:xfrm>
            <a:off x="1828800" y="12435840"/>
            <a:ext cx="12344400" cy="1097280"/>
          </a:xfrm>
          <a:prstGeom prst="rect">
            <a:avLst/>
          </a:prstGeom>
          <a:noFill/>
          <a:ln/>
        </p:spPr>
        <p:txBody>
          <a:bodyPr wrap="square" rtlCol="0" anchor="ctr"/>
          <a:lstStyle/>
          <a:p>
            <a:pPr algn="ctr" indent="0" marL="0">
              <a:buNone/>
            </a:pPr>
            <a:r>
              <a:rPr lang="en-US" sz="2000" b="1" dirty="0">
                <a:solidFill>
                  <a:srgbClr val="0F172A"/>
                </a:solidFill>
                <a:latin typeface="Helvetica" pitchFamily="34" charset="0"/>
                <a:ea typeface="Helvetica" pitchFamily="34" charset="-122"/>
                <a:cs typeface="Helvetica" pitchFamily="34" charset="-120"/>
              </a:rPr>
              <a:t>Current solutions for Sepsis Drug Discovery are vastly inadequate:</a:t>
            </a:r>
            <a:endParaRPr lang="en-US" sz="2000" dirty="0"/>
          </a:p>
          <a:p>
            <a:pPr algn="ctr" indent="0" marL="0">
              <a:buNone/>
            </a:pPr>
            <a:r>
              <a:rPr lang="en-US" sz="2000" b="1" dirty="0">
                <a:solidFill>
                  <a:srgbClr val="0F172A"/>
                </a:solidFill>
                <a:latin typeface="Helvetica" pitchFamily="34" charset="0"/>
                <a:ea typeface="Helvetica" pitchFamily="34" charset="-122"/>
                <a:cs typeface="Helvetica" pitchFamily="34" charset="-120"/>
              </a:rPr>
              <a:t>High Cost and Low Throughput</a:t>
            </a:r>
            <a:endParaRPr lang="en-US" sz="2000" dirty="0"/>
          </a:p>
        </p:txBody>
      </p:sp>
      <p:sp>
        <p:nvSpPr>
          <p:cNvPr id="11" name="Text 9"/>
          <p:cNvSpPr/>
          <p:nvPr/>
        </p:nvSpPr>
        <p:spPr>
          <a:xfrm>
            <a:off x="1828800" y="13350240"/>
            <a:ext cx="12344400" cy="1371600"/>
          </a:xfrm>
          <a:prstGeom prst="rect">
            <a:avLst/>
          </a:prstGeom>
          <a:noFill/>
          <a:ln/>
        </p:spPr>
        <p:txBody>
          <a:bodyPr wrap="square" rtlCol="0" anchor="ctr"/>
          <a:lstStyle/>
          <a:p>
            <a:pPr algn="l" indent="0" marL="0">
              <a:buNone/>
            </a:pPr>
            <a:r>
              <a:rPr lang="en-US" sz="1600" dirty="0">
                <a:solidFill>
                  <a:srgbClr val="0F172A"/>
                </a:solidFill>
                <a:latin typeface="Helvetica" pitchFamily="34" charset="0"/>
                <a:ea typeface="Helvetica" pitchFamily="34" charset="-122"/>
                <a:cs typeface="Helvetica" pitchFamily="34" charset="-120"/>
              </a:rPr>
              <a:t>Traditional in-vitro synthesis cannot rapidly generate or evaluate the millions of potential sequence geometries needed to discover highly specific inhibitors for rapidly evolving systemic conditions.</a:t>
            </a:r>
            <a:endParaRPr lang="en-US" sz="1600" dirty="0"/>
          </a:p>
        </p:txBody>
      </p:sp>
      <p:sp>
        <p:nvSpPr>
          <p:cNvPr id="12" name="Shape 10"/>
          <p:cNvSpPr/>
          <p:nvPr/>
        </p:nvSpPr>
        <p:spPr>
          <a:xfrm>
            <a:off x="1371600" y="15453360"/>
            <a:ext cx="13258800" cy="2743200"/>
          </a:xfrm>
          <a:prstGeom prst="rect">
            <a:avLst/>
          </a:prstGeom>
          <a:solidFill>
            <a:srgbClr val="E0F2FE"/>
          </a:solidFill>
          <a:ln/>
        </p:spPr>
      </p:sp>
      <p:sp>
        <p:nvSpPr>
          <p:cNvPr id="13" name="Text 11"/>
          <p:cNvSpPr/>
          <p:nvPr/>
        </p:nvSpPr>
        <p:spPr>
          <a:xfrm>
            <a:off x="1828800" y="15636240"/>
            <a:ext cx="12344400" cy="731520"/>
          </a:xfrm>
          <a:prstGeom prst="rect">
            <a:avLst/>
          </a:prstGeom>
          <a:noFill/>
          <a:ln/>
        </p:spPr>
        <p:txBody>
          <a:bodyPr wrap="square" rtlCol="0" anchor="ctr"/>
          <a:lstStyle/>
          <a:p>
            <a:pPr algn="ctr" indent="0" marL="0">
              <a:buNone/>
            </a:pPr>
            <a:r>
              <a:rPr lang="en-US" sz="2200" b="1" dirty="0">
                <a:solidFill>
                  <a:srgbClr val="0F172A"/>
                </a:solidFill>
                <a:latin typeface="Helvetica" pitchFamily="34" charset="0"/>
                <a:ea typeface="Helvetica" pitchFamily="34" charset="-122"/>
                <a:cs typeface="Helvetica" pitchFamily="34" charset="-120"/>
              </a:rPr>
              <a:t>Research Question</a:t>
            </a:r>
            <a:endParaRPr lang="en-US" sz="2200" dirty="0"/>
          </a:p>
        </p:txBody>
      </p:sp>
      <p:sp>
        <p:nvSpPr>
          <p:cNvPr id="14" name="Text 12"/>
          <p:cNvSpPr/>
          <p:nvPr/>
        </p:nvSpPr>
        <p:spPr>
          <a:xfrm>
            <a:off x="1828800" y="16367760"/>
            <a:ext cx="12344400" cy="1645920"/>
          </a:xfrm>
          <a:prstGeom prst="rect">
            <a:avLst/>
          </a:prstGeom>
          <a:noFill/>
          <a:ln/>
        </p:spPr>
        <p:txBody>
          <a:bodyPr wrap="square" rtlCol="0" anchor="ctr"/>
          <a:lstStyle/>
          <a:p>
            <a:pPr algn="ctr" indent="0" marL="0">
              <a:buNone/>
            </a:pPr>
            <a:r>
              <a:rPr lang="en-US" sz="1700" i="1" dirty="0">
                <a:solidFill>
                  <a:srgbClr val="0F172A"/>
                </a:solidFill>
                <a:latin typeface="Helvetica" pitchFamily="34" charset="0"/>
                <a:ea typeface="Helvetica" pitchFamily="34" charset="-122"/>
                <a:cs typeface="Helvetica" pitchFamily="34" charset="-120"/>
              </a:rPr>
              <a:t>How can a multi-architecture Generative Adversarial Network pipeline (PrismGAN, CGAN, WGAN-GP) trained on 11,551 MEROPS cleavage events accelerate the design of novel, provably equivalent peptide inhibitors across all 27 target sepsis-related proteases?</a:t>
            </a:r>
            <a:endParaRPr lang="en-US" sz="1700" dirty="0"/>
          </a:p>
        </p:txBody>
      </p:sp>
      <p:sp>
        <p:nvSpPr>
          <p:cNvPr id="15" name="Shape 13"/>
          <p:cNvSpPr/>
          <p:nvPr/>
        </p:nvSpPr>
        <p:spPr>
          <a:xfrm>
            <a:off x="1371600" y="18653760"/>
            <a:ext cx="13258800" cy="9144000"/>
          </a:xfrm>
          <a:prstGeom prst="rect">
            <a:avLst/>
          </a:prstGeom>
          <a:solidFill>
            <a:srgbClr val="E0F2FE"/>
          </a:solidFill>
          <a:ln/>
        </p:spPr>
      </p:sp>
      <p:sp>
        <p:nvSpPr>
          <p:cNvPr id="16" name="Text 14"/>
          <p:cNvSpPr/>
          <p:nvPr/>
        </p:nvSpPr>
        <p:spPr>
          <a:xfrm>
            <a:off x="1828800" y="18836640"/>
            <a:ext cx="12344400" cy="731520"/>
          </a:xfrm>
          <a:prstGeom prst="rect">
            <a:avLst/>
          </a:prstGeom>
          <a:noFill/>
          <a:ln/>
        </p:spPr>
        <p:txBody>
          <a:bodyPr wrap="square" rtlCol="0" anchor="ctr"/>
          <a:lstStyle/>
          <a:p>
            <a:pPr algn="ctr" indent="0" marL="0">
              <a:buNone/>
            </a:pPr>
            <a:r>
              <a:rPr lang="en-US" sz="2200" b="1" dirty="0">
                <a:solidFill>
                  <a:srgbClr val="0F172A"/>
                </a:solidFill>
                <a:latin typeface="Helvetica" pitchFamily="34" charset="0"/>
                <a:ea typeface="Helvetica" pitchFamily="34" charset="-122"/>
                <a:cs typeface="Helvetica" pitchFamily="34" charset="-120"/>
              </a:rPr>
              <a:t>AI-Driven Sepsis Protease Inhibitor Framework</a:t>
            </a:r>
            <a:endParaRPr lang="en-US" sz="2200" dirty="0"/>
          </a:p>
        </p:txBody>
      </p:sp>
      <p:pic>
        <p:nvPicPr>
          <p:cNvPr id="17" name="Image 0" descr="/Users/pranavdivichenchu/Documents/AET Senior Research/rsef_figures/fig0_pipeline.png">    </p:cNvPr>
          <p:cNvPicPr>
            <a:picLocks noChangeAspect="1"/>
          </p:cNvPicPr>
          <p:nvPr/>
        </p:nvPicPr>
        <p:blipFill>
          <a:blip r:embed="rId1"/>
          <a:srcRect l="0" r="0" t="0" b="0"/>
          <a:stretch/>
        </p:blipFill>
        <p:spPr>
          <a:xfrm>
            <a:off x="1828800" y="19751040"/>
            <a:ext cx="12344400" cy="6400800"/>
          </a:xfrm>
          <a:prstGeom prst="rect">
            <a:avLst/>
          </a:prstGeom>
        </p:spPr>
      </p:pic>
      <p:sp>
        <p:nvSpPr>
          <p:cNvPr id="18" name="Text 15"/>
          <p:cNvSpPr/>
          <p:nvPr/>
        </p:nvSpPr>
        <p:spPr>
          <a:xfrm>
            <a:off x="1828800" y="26243280"/>
            <a:ext cx="12344400" cy="457200"/>
          </a:xfrm>
          <a:prstGeom prst="rect">
            <a:avLst/>
          </a:prstGeom>
          <a:noFill/>
          <a:ln/>
        </p:spPr>
        <p:txBody>
          <a:bodyPr wrap="square" rtlCol="0" anchor="ctr"/>
          <a:lstStyle/>
          <a:p>
            <a:pPr algn="ctr" indent="0" marL="0">
              <a:buNone/>
            </a:pPr>
            <a:r>
              <a:rPr lang="en-US" sz="1200" i="1" dirty="0">
                <a:solidFill>
                  <a:srgbClr val="475569"/>
                </a:solidFill>
              </a:rPr>
              <a:t>Diagram created by Finalist using Lucidchart/BioRender.</a:t>
            </a:r>
            <a:endParaRPr lang="en-US" sz="1200" dirty="0"/>
          </a:p>
        </p:txBody>
      </p:sp>
      <p:sp>
        <p:nvSpPr>
          <p:cNvPr id="19" name="Shape 16"/>
          <p:cNvSpPr/>
          <p:nvPr/>
        </p:nvSpPr>
        <p:spPr>
          <a:xfrm>
            <a:off x="15316200" y="4572000"/>
            <a:ext cx="13258800" cy="1097280"/>
          </a:xfrm>
          <a:prstGeom prst="rect">
            <a:avLst/>
          </a:prstGeom>
          <a:solidFill>
            <a:srgbClr val="0B192C"/>
          </a:solidFill>
          <a:ln/>
        </p:spPr>
      </p:sp>
      <p:sp>
        <p:nvSpPr>
          <p:cNvPr id="20" name="Text 17"/>
          <p:cNvSpPr/>
          <p:nvPr/>
        </p:nvSpPr>
        <p:spPr>
          <a:xfrm>
            <a:off x="15316200" y="4572000"/>
            <a:ext cx="13258800" cy="1097280"/>
          </a:xfrm>
          <a:prstGeom prst="rect">
            <a:avLst/>
          </a:prstGeom>
          <a:noFill/>
          <a:ln/>
        </p:spPr>
        <p:txBody>
          <a:bodyPr wrap="square" rtlCol="0" anchor="ctr"/>
          <a:lstStyle/>
          <a:p>
            <a:pPr algn="ctr" indent="0" marL="0">
              <a:buNone/>
            </a:pPr>
            <a:r>
              <a:rPr lang="en-US" sz="3200" b="1" dirty="0">
                <a:solidFill>
                  <a:srgbClr val="FFFFFF"/>
                </a:solidFill>
                <a:latin typeface="Helvetica" pitchFamily="34" charset="0"/>
                <a:ea typeface="Helvetica" pitchFamily="34" charset="-122"/>
                <a:cs typeface="Helvetica" pitchFamily="34" charset="-120"/>
              </a:rPr>
              <a:t>DATASETS &amp; BASELINE PREPROCESSING</a:t>
            </a:r>
            <a:endParaRPr lang="en-US" sz="3200" dirty="0"/>
          </a:p>
        </p:txBody>
      </p:sp>
      <p:sp>
        <p:nvSpPr>
          <p:cNvPr id="21" name="Shape 18"/>
          <p:cNvSpPr/>
          <p:nvPr/>
        </p:nvSpPr>
        <p:spPr>
          <a:xfrm>
            <a:off x="15316200" y="5852160"/>
            <a:ext cx="6446520" cy="5486400"/>
          </a:xfrm>
          <a:prstGeom prst="rect">
            <a:avLst/>
          </a:prstGeom>
          <a:solidFill>
            <a:srgbClr val="F8FAFC"/>
          </a:solidFill>
          <a:ln/>
        </p:spPr>
      </p:sp>
      <p:sp>
        <p:nvSpPr>
          <p:cNvPr id="22" name="Text 19"/>
          <p:cNvSpPr/>
          <p:nvPr/>
        </p:nvSpPr>
        <p:spPr>
          <a:xfrm>
            <a:off x="15499080" y="6035040"/>
            <a:ext cx="6080760" cy="731520"/>
          </a:xfrm>
          <a:prstGeom prst="rect">
            <a:avLst/>
          </a:prstGeom>
          <a:noFill/>
          <a:ln/>
        </p:spPr>
        <p:txBody>
          <a:bodyPr wrap="square" rtlCol="0" anchor="ctr"/>
          <a:lstStyle/>
          <a:p>
            <a:pPr algn="ctr" indent="0" marL="0">
              <a:buNone/>
            </a:pPr>
            <a:r>
              <a:rPr lang="en-US" sz="2000" b="1" dirty="0">
                <a:solidFill>
                  <a:srgbClr val="000000"/>
                </a:solidFill>
                <a:latin typeface="Helvetica" pitchFamily="34" charset="0"/>
                <a:ea typeface="Helvetica" pitchFamily="34" charset="-122"/>
                <a:cs typeface="Helvetica" pitchFamily="34" charset="-120"/>
              </a:rPr>
              <a:t>Data Sources</a:t>
            </a:r>
            <a:endParaRPr lang="en-US" sz="2000" dirty="0"/>
          </a:p>
        </p:txBody>
      </p:sp>
      <p:sp>
        <p:nvSpPr>
          <p:cNvPr id="23" name="Text 20"/>
          <p:cNvSpPr/>
          <p:nvPr/>
        </p:nvSpPr>
        <p:spPr>
          <a:xfrm>
            <a:off x="15499080" y="6949440"/>
            <a:ext cx="6080760" cy="4114800"/>
          </a:xfrm>
          <a:prstGeom prst="rect">
            <a:avLst/>
          </a:prstGeom>
          <a:noFill/>
          <a:ln/>
        </p:spPr>
        <p:txBody>
          <a:bodyPr wrap="square" rtlCol="0" anchor="t"/>
          <a:lstStyle/>
          <a:p>
            <a:pPr algn="l" indent="0" marL="0">
              <a:buNone/>
            </a:pPr>
            <a:r>
              <a:rPr lang="en-US" sz="1600" dirty="0">
                <a:solidFill>
                  <a:srgbClr val="000000"/>
                </a:solidFill>
                <a:latin typeface="Helvetica" pitchFamily="34" charset="0"/>
                <a:ea typeface="Helvetica" pitchFamily="34" charset="-122"/>
                <a:cs typeface="Helvetica" pitchFamily="34" charset="-120"/>
              </a:rPr>
              <a:t>The predictive architecture was constructed using the MEROPS database. 11,551 confirmed cleavage events were extracted across 27 targets. PDB structures for the 27 target proteases were sourced from the RCSB PDB database and grids defined at 0.375 Å.</a:t>
            </a:r>
            <a:endParaRPr lang="en-US" sz="1600" dirty="0"/>
          </a:p>
        </p:txBody>
      </p:sp>
      <p:sp>
        <p:nvSpPr>
          <p:cNvPr id="24" name="Shape 21"/>
          <p:cNvSpPr/>
          <p:nvPr/>
        </p:nvSpPr>
        <p:spPr>
          <a:xfrm>
            <a:off x="22128480" y="5852160"/>
            <a:ext cx="6446520" cy="5486400"/>
          </a:xfrm>
          <a:prstGeom prst="rect">
            <a:avLst/>
          </a:prstGeom>
          <a:solidFill>
            <a:srgbClr val="F8FAFC"/>
          </a:solidFill>
          <a:ln/>
        </p:spPr>
      </p:sp>
      <p:sp>
        <p:nvSpPr>
          <p:cNvPr id="25" name="Text 22"/>
          <p:cNvSpPr/>
          <p:nvPr/>
        </p:nvSpPr>
        <p:spPr>
          <a:xfrm>
            <a:off x="22311360" y="6035040"/>
            <a:ext cx="6080760" cy="731520"/>
          </a:xfrm>
          <a:prstGeom prst="rect">
            <a:avLst/>
          </a:prstGeom>
          <a:noFill/>
          <a:ln/>
        </p:spPr>
        <p:txBody>
          <a:bodyPr wrap="square" rtlCol="0" anchor="ctr"/>
          <a:lstStyle/>
          <a:p>
            <a:pPr algn="ctr" indent="0" marL="0">
              <a:buNone/>
            </a:pPr>
            <a:r>
              <a:rPr lang="en-US" sz="2000" b="1" dirty="0">
                <a:solidFill>
                  <a:srgbClr val="000000"/>
                </a:solidFill>
                <a:latin typeface="Helvetica" pitchFamily="34" charset="0"/>
                <a:ea typeface="Helvetica" pitchFamily="34" charset="-122"/>
                <a:cs typeface="Helvetica" pitchFamily="34" charset="-120"/>
              </a:rPr>
              <a:t>Methodology &amp; Preprocessing</a:t>
            </a:r>
            <a:endParaRPr lang="en-US" sz="2000" dirty="0"/>
          </a:p>
        </p:txBody>
      </p:sp>
      <p:sp>
        <p:nvSpPr>
          <p:cNvPr id="26" name="Text 23"/>
          <p:cNvSpPr/>
          <p:nvPr/>
        </p:nvSpPr>
        <p:spPr>
          <a:xfrm>
            <a:off x="22311360" y="6949440"/>
            <a:ext cx="6080760" cy="4114800"/>
          </a:xfrm>
          <a:prstGeom prst="rect">
            <a:avLst/>
          </a:prstGeom>
          <a:noFill/>
          <a:ln/>
        </p:spPr>
        <p:txBody>
          <a:bodyPr wrap="square" rtlCol="0" anchor="t"/>
          <a:lstStyle/>
          <a:p>
            <a:pPr algn="l" indent="0" marL="0">
              <a:buNone/>
            </a:pPr>
            <a:r>
              <a:rPr lang="en-US" sz="1600" dirty="0">
                <a:solidFill>
                  <a:srgbClr val="000000"/>
                </a:solidFill>
                <a:latin typeface="Helvetica" pitchFamily="34" charset="0"/>
                <a:ea typeface="Helvetica" pitchFamily="34" charset="-122"/>
                <a:cs typeface="Helvetica" pitchFamily="34" charset="-120"/>
              </a:rPr>
              <a:t>P4–P4′ 8-mer windows extracted. Generated sequences were folded natively using Meta AI’s ESMFold API, requiring an average of 10-15 seconds per structure before molecular docking simulations in AutoDock Vina.</a:t>
            </a:r>
            <a:endParaRPr lang="en-US" sz="1600" dirty="0"/>
          </a:p>
        </p:txBody>
      </p:sp>
      <p:sp>
        <p:nvSpPr>
          <p:cNvPr id="27" name="Shape 24"/>
          <p:cNvSpPr/>
          <p:nvPr/>
        </p:nvSpPr>
        <p:spPr>
          <a:xfrm>
            <a:off x="15316200" y="11795760"/>
            <a:ext cx="13258800" cy="1097280"/>
          </a:xfrm>
          <a:prstGeom prst="rect">
            <a:avLst/>
          </a:prstGeom>
          <a:solidFill>
            <a:srgbClr val="0B192C"/>
          </a:solidFill>
          <a:ln/>
        </p:spPr>
      </p:sp>
      <p:sp>
        <p:nvSpPr>
          <p:cNvPr id="28" name="Text 25"/>
          <p:cNvSpPr/>
          <p:nvPr/>
        </p:nvSpPr>
        <p:spPr>
          <a:xfrm>
            <a:off x="15316200" y="11795760"/>
            <a:ext cx="13258800" cy="1097280"/>
          </a:xfrm>
          <a:prstGeom prst="rect">
            <a:avLst/>
          </a:prstGeom>
          <a:noFill/>
          <a:ln/>
        </p:spPr>
        <p:txBody>
          <a:bodyPr wrap="square" rtlCol="0" anchor="ctr"/>
          <a:lstStyle/>
          <a:p>
            <a:pPr algn="ctr" indent="0" marL="0">
              <a:buNone/>
            </a:pPr>
            <a:r>
              <a:rPr lang="en-US" sz="3200" b="1" dirty="0">
                <a:solidFill>
                  <a:srgbClr val="FFFFFF"/>
                </a:solidFill>
                <a:latin typeface="Helvetica" pitchFamily="34" charset="0"/>
                <a:ea typeface="Helvetica" pitchFamily="34" charset="-122"/>
                <a:cs typeface="Helvetica" pitchFamily="34" charset="-120"/>
              </a:rPr>
              <a:t>MODEL DEVELOPMENT &amp; ARCHITECTURE</a:t>
            </a:r>
            <a:endParaRPr lang="en-US" sz="3200" dirty="0"/>
          </a:p>
        </p:txBody>
      </p:sp>
      <p:sp>
        <p:nvSpPr>
          <p:cNvPr id="29" name="Shape 26"/>
          <p:cNvSpPr/>
          <p:nvPr/>
        </p:nvSpPr>
        <p:spPr>
          <a:xfrm>
            <a:off x="15316200" y="13075920"/>
            <a:ext cx="13258800" cy="5486400"/>
          </a:xfrm>
          <a:prstGeom prst="rect">
            <a:avLst/>
          </a:prstGeom>
          <a:solidFill>
            <a:srgbClr val="F8FAFC"/>
          </a:solidFill>
          <a:ln/>
        </p:spPr>
      </p:sp>
      <p:sp>
        <p:nvSpPr>
          <p:cNvPr id="30" name="Text 27"/>
          <p:cNvSpPr/>
          <p:nvPr/>
        </p:nvSpPr>
        <p:spPr>
          <a:xfrm>
            <a:off x="15773400" y="13258800"/>
            <a:ext cx="12344400" cy="5029200"/>
          </a:xfrm>
          <a:prstGeom prst="rect">
            <a:avLst/>
          </a:prstGeom>
          <a:noFill/>
          <a:ln/>
        </p:spPr>
        <p:txBody>
          <a:bodyPr wrap="square" rtlCol="0" anchor="t"/>
          <a:lstStyle/>
          <a:p>
            <a:pPr indent="0" marL="0">
              <a:buNone/>
            </a:pPr>
            <a:r>
              <a:rPr lang="en-US" sz="1800" b="1" dirty="0">
                <a:solidFill>
                  <a:srgbClr val="14B8A6"/>
                </a:solidFill>
                <a:latin typeface="Helvetica" pitchFamily="34" charset="0"/>
                <a:ea typeface="Helvetica" pitchFamily="34" charset="-122"/>
                <a:cs typeface="Helvetica" pitchFamily="34" charset="-120"/>
              </a:rPr>
              <a:t>PrismGAN Architecture: </a:t>
            </a:r>
            <a:pPr indent="0" marL="0">
              <a:buNone/>
            </a:pPr>
            <a:r>
              <a:rPr lang="en-US" sz="1800" dirty="0">
                <a:solidFill>
                  <a:srgbClr val="0F172A"/>
                </a:solidFill>
                <a:latin typeface="Helvetica" pitchFamily="34" charset="0"/>
                <a:ea typeface="Helvetica" pitchFamily="34" charset="-122"/>
                <a:cs typeface="Helvetica" pitchFamily="34" charset="-120"/>
              </a:rPr>
              <a:t>Novel structure incorporating Spectral Normalization, Multi-Head Self-Attention (4 heads, d_model = 256) to capture long-range dependencies, and Conditional Batch Normalization for protease-specific generation.
</a:t>
            </a:r>
            <a:pPr indent="0" marL="0">
              <a:buNone/>
            </a:pPr>
            <a:r>
              <a:rPr lang="en-US" sz="1800" b="1" dirty="0">
                <a:solidFill>
                  <a:srgbClr val="14B8A6"/>
                </a:solidFill>
                <a:latin typeface="Helvetica" pitchFamily="34" charset="0"/>
                <a:ea typeface="Helvetica" pitchFamily="34" charset="-122"/>
                <a:cs typeface="Helvetica" pitchFamily="34" charset="-120"/>
              </a:rPr>
              <a:t>Ensemble Pipeline: </a:t>
            </a:r>
            <a:pPr indent="0" marL="0">
              <a:buNone/>
            </a:pPr>
            <a:r>
              <a:rPr lang="en-US" sz="1800" dirty="0">
                <a:solidFill>
                  <a:srgbClr val="0F172A"/>
                </a:solidFill>
                <a:latin typeface="Helvetica" pitchFamily="34" charset="0"/>
                <a:ea typeface="Helvetica" pitchFamily="34" charset="-122"/>
                <a:cs typeface="Helvetica" pitchFamily="34" charset="-120"/>
              </a:rPr>
              <a:t>Integrated Conditional GANs (protease-conditioned generation) and WGAN-GPs alongside PrismGAN to ensure robust sequence diversification across 1,000 epochs.</a:t>
            </a:r>
            <a:endParaRPr lang="en-US" sz="1800" dirty="0"/>
          </a:p>
        </p:txBody>
      </p:sp>
      <p:sp>
        <p:nvSpPr>
          <p:cNvPr id="31" name="Shape 28"/>
          <p:cNvSpPr/>
          <p:nvPr/>
        </p:nvSpPr>
        <p:spPr>
          <a:xfrm>
            <a:off x="15316200" y="19019520"/>
            <a:ext cx="13258800" cy="1097280"/>
          </a:xfrm>
          <a:prstGeom prst="rect">
            <a:avLst/>
          </a:prstGeom>
          <a:solidFill>
            <a:srgbClr val="0B192C"/>
          </a:solidFill>
          <a:ln/>
        </p:spPr>
      </p:sp>
      <p:sp>
        <p:nvSpPr>
          <p:cNvPr id="32" name="Text 29"/>
          <p:cNvSpPr/>
          <p:nvPr/>
        </p:nvSpPr>
        <p:spPr>
          <a:xfrm>
            <a:off x="15316200" y="19019520"/>
            <a:ext cx="13258800" cy="1097280"/>
          </a:xfrm>
          <a:prstGeom prst="rect">
            <a:avLst/>
          </a:prstGeom>
          <a:noFill/>
          <a:ln/>
        </p:spPr>
        <p:txBody>
          <a:bodyPr wrap="square" rtlCol="0" anchor="ctr"/>
          <a:lstStyle/>
          <a:p>
            <a:pPr algn="ctr" indent="0" marL="0">
              <a:buNone/>
            </a:pPr>
            <a:r>
              <a:rPr lang="en-US" sz="3200" b="1" dirty="0">
                <a:solidFill>
                  <a:srgbClr val="FFFFFF"/>
                </a:solidFill>
                <a:latin typeface="Helvetica" pitchFamily="34" charset="0"/>
                <a:ea typeface="Helvetica" pitchFamily="34" charset="-122"/>
                <a:cs typeface="Helvetica" pitchFamily="34" charset="-120"/>
              </a:rPr>
              <a:t>MODEL PERFORMANCE &amp; VALIDATION</a:t>
            </a:r>
            <a:endParaRPr lang="en-US" sz="3200" dirty="0"/>
          </a:p>
        </p:txBody>
      </p:sp>
      <p:sp>
        <p:nvSpPr>
          <p:cNvPr id="33" name="Shape 30"/>
          <p:cNvSpPr/>
          <p:nvPr/>
        </p:nvSpPr>
        <p:spPr>
          <a:xfrm>
            <a:off x="15316200" y="20299680"/>
            <a:ext cx="13258800" cy="10058400"/>
          </a:xfrm>
          <a:prstGeom prst="rect">
            <a:avLst/>
          </a:prstGeom>
          <a:solidFill>
            <a:srgbClr val="F8FAFC"/>
          </a:solidFill>
          <a:ln/>
        </p:spPr>
      </p:sp>
      <p:sp>
        <p:nvSpPr>
          <p:cNvPr id="34" name="Text 31"/>
          <p:cNvSpPr/>
          <p:nvPr/>
        </p:nvSpPr>
        <p:spPr>
          <a:xfrm>
            <a:off x="15773400" y="20482560"/>
            <a:ext cx="12344400" cy="4572000"/>
          </a:xfrm>
          <a:prstGeom prst="rect">
            <a:avLst/>
          </a:prstGeom>
          <a:noFill/>
          <a:ln/>
        </p:spPr>
        <p:txBody>
          <a:bodyPr wrap="square" rtlCol="0" anchor="t"/>
          <a:lstStyle/>
          <a:p>
            <a:pPr indent="0" marL="0">
              <a:buNone/>
            </a:pPr>
            <a:r>
              <a:rPr lang="en-US" sz="1700" dirty="0">
                <a:solidFill>
                  <a:srgbClr val="0F172A"/>
                </a:solidFill>
                <a:latin typeface="Helvetica" pitchFamily="34" charset="0"/>
                <a:ea typeface="Helvetica" pitchFamily="34" charset="-122"/>
                <a:cs typeface="Helvetica" pitchFamily="34" charset="-120"/>
              </a:rPr>
              <a:t>Extensive computational screening executed 781 docking simulations. The 27-peptide final panel yielded affinities from −4.93 to −11.88 kcal/mol, yielding 28 'excellent binders'.
</a:t>
            </a:r>
            <a:pPr indent="0" marL="0">
              <a:buNone/>
            </a:pPr>
            <a:r>
              <a:rPr lang="en-US" sz="1700" b="1" dirty="0">
                <a:solidFill>
                  <a:srgbClr val="000000"/>
                </a:solidFill>
                <a:latin typeface="Helvetica" pitchFamily="34" charset="0"/>
                <a:ea typeface="Helvetica" pitchFamily="34" charset="-122"/>
                <a:cs typeface="Helvetica" pitchFamily="34" charset="-120"/>
              </a:rPr>
              <a:t>TOST Equivalence Validation: </a:t>
            </a:r>
            <a:pPr indent="0" marL="0">
              <a:buNone/>
            </a:pPr>
            <a:r>
              <a:rPr lang="en-US" sz="1700" dirty="0">
                <a:solidFill>
                  <a:srgbClr val="0F172A"/>
                </a:solidFill>
                <a:latin typeface="Helvetica" pitchFamily="34" charset="0"/>
                <a:ea typeface="Helvetica" pitchFamily="34" charset="-122"/>
                <a:cs typeface="Helvetica" pitchFamily="34" charset="-120"/>
              </a:rPr>
              <a:t>Two One-Sided Tests (TOST) against the FDA-standard margin (±0.75 kcal/mol) proved the GAN distributions are formally equivalent to MEROPS biology (Combined GAN vs. MEROPS: +0.19 kcal/mol mean diff; p_lower &lt; 0.001, p_upper = 0.011).</a:t>
            </a:r>
            <a:endParaRPr lang="en-US" sz="1700" dirty="0"/>
          </a:p>
        </p:txBody>
      </p:sp>
      <p:pic>
        <p:nvPicPr>
          <p:cNvPr id="35" name="Image 1" descr="/Users/pranavdivichenchu/Documents/AET Senior Research/rsef_figures/fig1_baseline_comparison.png">    </p:cNvPr>
          <p:cNvPicPr>
            <a:picLocks noChangeAspect="1"/>
          </p:cNvPicPr>
          <p:nvPr/>
        </p:nvPicPr>
        <p:blipFill>
          <a:blip r:embed="rId2"/>
          <a:srcRect l="0" r="0" t="0" b="0"/>
          <a:stretch/>
        </p:blipFill>
        <p:spPr>
          <a:xfrm>
            <a:off x="15773400" y="25328880"/>
            <a:ext cx="5989320" cy="4114800"/>
          </a:xfrm>
          <a:prstGeom prst="rect">
            <a:avLst/>
          </a:prstGeom>
        </p:spPr>
      </p:pic>
      <p:sp>
        <p:nvSpPr>
          <p:cNvPr id="36" name="Text 32"/>
          <p:cNvSpPr/>
          <p:nvPr/>
        </p:nvSpPr>
        <p:spPr>
          <a:xfrm>
            <a:off x="15773400" y="29535120"/>
            <a:ext cx="5989320" cy="457200"/>
          </a:xfrm>
          <a:prstGeom prst="rect">
            <a:avLst/>
          </a:prstGeom>
          <a:noFill/>
          <a:ln/>
        </p:spPr>
        <p:txBody>
          <a:bodyPr wrap="square" rtlCol="0" anchor="ctr"/>
          <a:lstStyle/>
          <a:p>
            <a:pPr algn="ctr" indent="0" marL="0">
              <a:buNone/>
            </a:pPr>
            <a:r>
              <a:rPr lang="en-US" sz="1000" i="1" dirty="0">
                <a:solidFill>
                  <a:srgbClr val="475569"/>
                </a:solidFill>
              </a:rPr>
              <a:t>Graph created by Finalist using Python/Matplotlib/Seaborn.</a:t>
            </a:r>
            <a:endParaRPr lang="en-US" sz="1000" dirty="0"/>
          </a:p>
        </p:txBody>
      </p:sp>
      <p:pic>
        <p:nvPicPr>
          <p:cNvPr id="37" name="Image 2" descr="/Users/pranavdivichenchu/Documents/AET Senior Research/rsef_figures/fig2_all27_vs_merops.png">    </p:cNvPr>
          <p:cNvPicPr>
            <a:picLocks noChangeAspect="1"/>
          </p:cNvPicPr>
          <p:nvPr/>
        </p:nvPicPr>
        <p:blipFill>
          <a:blip r:embed="rId3"/>
          <a:srcRect l="0" r="0" t="0" b="0"/>
          <a:stretch/>
        </p:blipFill>
        <p:spPr>
          <a:xfrm>
            <a:off x="22128480" y="25328880"/>
            <a:ext cx="5989320" cy="4114800"/>
          </a:xfrm>
          <a:prstGeom prst="rect">
            <a:avLst/>
          </a:prstGeom>
        </p:spPr>
      </p:pic>
      <p:sp>
        <p:nvSpPr>
          <p:cNvPr id="38" name="Text 33"/>
          <p:cNvSpPr/>
          <p:nvPr/>
        </p:nvSpPr>
        <p:spPr>
          <a:xfrm>
            <a:off x="22128480" y="29535120"/>
            <a:ext cx="5989320" cy="457200"/>
          </a:xfrm>
          <a:prstGeom prst="rect">
            <a:avLst/>
          </a:prstGeom>
          <a:noFill/>
          <a:ln/>
        </p:spPr>
        <p:txBody>
          <a:bodyPr wrap="square" rtlCol="0" anchor="ctr"/>
          <a:lstStyle/>
          <a:p>
            <a:pPr algn="ctr" indent="0" marL="0">
              <a:buNone/>
            </a:pPr>
            <a:r>
              <a:rPr lang="en-US" sz="1000" i="1" dirty="0">
                <a:solidFill>
                  <a:srgbClr val="475569"/>
                </a:solidFill>
              </a:rPr>
              <a:t>Graph created by Finalist using Python/Matplotlib/Seaborn.</a:t>
            </a:r>
            <a:endParaRPr lang="en-US" sz="1000" dirty="0"/>
          </a:p>
        </p:txBody>
      </p:sp>
      <p:sp>
        <p:nvSpPr>
          <p:cNvPr id="39" name="Shape 34"/>
          <p:cNvSpPr/>
          <p:nvPr/>
        </p:nvSpPr>
        <p:spPr>
          <a:xfrm>
            <a:off x="29260800" y="4572000"/>
            <a:ext cx="13258800" cy="1097280"/>
          </a:xfrm>
          <a:prstGeom prst="rect">
            <a:avLst/>
          </a:prstGeom>
          <a:solidFill>
            <a:srgbClr val="0B192C"/>
          </a:solidFill>
          <a:ln/>
        </p:spPr>
      </p:sp>
      <p:sp>
        <p:nvSpPr>
          <p:cNvPr id="40" name="Text 35"/>
          <p:cNvSpPr/>
          <p:nvPr/>
        </p:nvSpPr>
        <p:spPr>
          <a:xfrm>
            <a:off x="29260800" y="4572000"/>
            <a:ext cx="13258800" cy="1097280"/>
          </a:xfrm>
          <a:prstGeom prst="rect">
            <a:avLst/>
          </a:prstGeom>
          <a:noFill/>
          <a:ln/>
        </p:spPr>
        <p:txBody>
          <a:bodyPr wrap="square" rtlCol="0" anchor="ctr"/>
          <a:lstStyle/>
          <a:p>
            <a:pPr algn="ctr" indent="0" marL="0">
              <a:buNone/>
            </a:pPr>
            <a:r>
              <a:rPr lang="en-US" sz="3200" b="1" dirty="0">
                <a:solidFill>
                  <a:srgbClr val="FFFFFF"/>
                </a:solidFill>
                <a:latin typeface="Helvetica" pitchFamily="34" charset="0"/>
                <a:ea typeface="Helvetica" pitchFamily="34" charset="-122"/>
                <a:cs typeface="Helvetica" pitchFamily="34" charset="-120"/>
              </a:rPr>
              <a:t>DISCUSSION</a:t>
            </a:r>
            <a:endParaRPr lang="en-US" sz="3200" dirty="0"/>
          </a:p>
        </p:txBody>
      </p:sp>
      <p:sp>
        <p:nvSpPr>
          <p:cNvPr id="41" name="Shape 36"/>
          <p:cNvSpPr/>
          <p:nvPr/>
        </p:nvSpPr>
        <p:spPr>
          <a:xfrm>
            <a:off x="29260800" y="5852160"/>
            <a:ext cx="13258800" cy="10058400"/>
          </a:xfrm>
          <a:prstGeom prst="rect">
            <a:avLst/>
          </a:prstGeom>
          <a:solidFill>
            <a:srgbClr val="F8FAFC"/>
          </a:solidFill>
          <a:ln/>
        </p:spPr>
      </p:sp>
      <p:sp>
        <p:nvSpPr>
          <p:cNvPr id="42" name="Text 37"/>
          <p:cNvSpPr/>
          <p:nvPr/>
        </p:nvSpPr>
        <p:spPr>
          <a:xfrm>
            <a:off x="29718000" y="6035040"/>
            <a:ext cx="12344400" cy="9144000"/>
          </a:xfrm>
          <a:prstGeom prst="rect">
            <a:avLst/>
          </a:prstGeom>
          <a:noFill/>
          <a:ln/>
        </p:spPr>
        <p:txBody>
          <a:bodyPr wrap="square" rtlCol="0" anchor="t"/>
          <a:lstStyle/>
          <a:p>
            <a:pPr indent="0" marL="0">
              <a:buNone/>
            </a:pPr>
            <a:r>
              <a:rPr lang="en-US" sz="1800" b="1" dirty="0">
                <a:solidFill>
                  <a:srgbClr val="14B8A6"/>
                </a:solidFill>
                <a:latin typeface="Helvetica" pitchFamily="34" charset="0"/>
                <a:ea typeface="Helvetica" pitchFamily="34" charset="-122"/>
                <a:cs typeface="Helvetica" pitchFamily="34" charset="-120"/>
              </a:rPr>
              <a:t>Performance Analysis: </a:t>
            </a:r>
            <a:pPr indent="0" marL="0">
              <a:buNone/>
            </a:pPr>
            <a:r>
              <a:rPr lang="en-US" sz="1800" dirty="0">
                <a:solidFill>
                  <a:srgbClr val="0F172A"/>
                </a:solidFill>
                <a:latin typeface="Helvetica" pitchFamily="34" charset="0"/>
                <a:ea typeface="Helvetica" pitchFamily="34" charset="-122"/>
                <a:cs typeface="Helvetica" pitchFamily="34" charset="-120"/>
              </a:rPr>
              <a:t>In direct comparisons across 7 proteases, our AI generative models outperformed the absolute best natural biological MEROPS substrate directly in 5 out of 7 targets (71%) with binding improvements averaging up to +1.30 kcal/mol.
</a:t>
            </a:r>
            <a:pPr indent="0" marL="0">
              <a:buNone/>
            </a:pPr>
            <a:r>
              <a:rPr lang="en-US" sz="1800" b="1" dirty="0">
                <a:solidFill>
                  <a:srgbClr val="14B8A6"/>
                </a:solidFill>
                <a:latin typeface="Helvetica" pitchFamily="34" charset="0"/>
                <a:ea typeface="Helvetica" pitchFamily="34" charset="-122"/>
                <a:cs typeface="Helvetica" pitchFamily="34" charset="-120"/>
              </a:rPr>
              <a:t>Druglikeness &amp; ADMET Profiling: </a:t>
            </a:r>
            <a:pPr indent="0" marL="0">
              <a:buNone/>
            </a:pPr>
            <a:r>
              <a:rPr lang="en-US" sz="1800" dirty="0">
                <a:solidFill>
                  <a:srgbClr val="0F172A"/>
                </a:solidFill>
                <a:latin typeface="Helvetica" pitchFamily="34" charset="0"/>
                <a:ea typeface="Helvetica" pitchFamily="34" charset="-122"/>
                <a:cs typeface="Helvetica" pitchFamily="34" charset="-120"/>
              </a:rPr>
              <a:t>Comprehensive ADMET analysis proved that 67% of generated peptides possess highly favorable druglikeness scores (≥60/100 scale), maintaining ideal molecular weights (689-1167 Da), hydrophobicity balance, and net charge considerations.
</a:t>
            </a:r>
            <a:pPr indent="0" marL="0">
              <a:buNone/>
            </a:pPr>
            <a:r>
              <a:rPr lang="en-US" sz="1800" b="1" dirty="0">
                <a:solidFill>
                  <a:srgbClr val="14B8A6"/>
                </a:solidFill>
                <a:latin typeface="Helvetica" pitchFamily="34" charset="0"/>
                <a:ea typeface="Helvetica" pitchFamily="34" charset="-122"/>
                <a:cs typeface="Helvetica" pitchFamily="34" charset="-120"/>
              </a:rPr>
              <a:t>Inhibitor Modifications: </a:t>
            </a:r>
            <a:pPr indent="0" marL="0">
              <a:buNone/>
            </a:pPr>
            <a:r>
              <a:rPr lang="en-US" sz="1800" dirty="0">
                <a:solidFill>
                  <a:srgbClr val="0F172A"/>
                </a:solidFill>
                <a:latin typeface="Helvetica" pitchFamily="34" charset="0"/>
                <a:ea typeface="Helvetica" pitchFamily="34" charset="-122"/>
                <a:cs typeface="Helvetica" pitchFamily="34" charset="-120"/>
              </a:rPr>
              <a:t>The 27 panel candidates were computationally extended into 3 distinct covalent warhead variants—yielding 81 total inhibitor designs tailored per class (Aldehyde for Serine, Boronic Acid for stability, Hydroxamate for MMPs).</a:t>
            </a:r>
            <a:endParaRPr lang="en-US" sz="1800" dirty="0"/>
          </a:p>
        </p:txBody>
      </p:sp>
      <p:sp>
        <p:nvSpPr>
          <p:cNvPr id="43" name="Shape 38"/>
          <p:cNvSpPr/>
          <p:nvPr/>
        </p:nvSpPr>
        <p:spPr>
          <a:xfrm>
            <a:off x="29260800" y="16367760"/>
            <a:ext cx="13258800" cy="1097280"/>
          </a:xfrm>
          <a:prstGeom prst="rect">
            <a:avLst/>
          </a:prstGeom>
          <a:solidFill>
            <a:srgbClr val="0B192C"/>
          </a:solidFill>
          <a:ln/>
        </p:spPr>
      </p:sp>
      <p:sp>
        <p:nvSpPr>
          <p:cNvPr id="44" name="Text 39"/>
          <p:cNvSpPr/>
          <p:nvPr/>
        </p:nvSpPr>
        <p:spPr>
          <a:xfrm>
            <a:off x="29260800" y="16367760"/>
            <a:ext cx="13258800" cy="1097280"/>
          </a:xfrm>
          <a:prstGeom prst="rect">
            <a:avLst/>
          </a:prstGeom>
          <a:noFill/>
          <a:ln/>
        </p:spPr>
        <p:txBody>
          <a:bodyPr wrap="square" rtlCol="0" anchor="ctr"/>
          <a:lstStyle/>
          <a:p>
            <a:pPr algn="ctr" indent="0" marL="0">
              <a:buNone/>
            </a:pPr>
            <a:r>
              <a:rPr lang="en-US" sz="3200" b="1" dirty="0">
                <a:solidFill>
                  <a:srgbClr val="FFFFFF"/>
                </a:solidFill>
                <a:latin typeface="Helvetica" pitchFamily="34" charset="0"/>
                <a:ea typeface="Helvetica" pitchFamily="34" charset="-122"/>
                <a:cs typeface="Helvetica" pitchFamily="34" charset="-120"/>
              </a:rPr>
              <a:t>FUTURE DEVELOPMENT</a:t>
            </a:r>
            <a:endParaRPr lang="en-US" sz="3200" dirty="0"/>
          </a:p>
        </p:txBody>
      </p:sp>
      <p:sp>
        <p:nvSpPr>
          <p:cNvPr id="45" name="Shape 40"/>
          <p:cNvSpPr/>
          <p:nvPr/>
        </p:nvSpPr>
        <p:spPr>
          <a:xfrm>
            <a:off x="29260800" y="17647920"/>
            <a:ext cx="13258800" cy="4114800"/>
          </a:xfrm>
          <a:prstGeom prst="rect">
            <a:avLst/>
          </a:prstGeom>
          <a:solidFill>
            <a:srgbClr val="E0F2FE"/>
          </a:solidFill>
          <a:ln/>
        </p:spPr>
      </p:sp>
      <p:sp>
        <p:nvSpPr>
          <p:cNvPr id="46" name="Text 41"/>
          <p:cNvSpPr/>
          <p:nvPr/>
        </p:nvSpPr>
        <p:spPr>
          <a:xfrm>
            <a:off x="29718000" y="17830800"/>
            <a:ext cx="12344400" cy="3657600"/>
          </a:xfrm>
          <a:prstGeom prst="rect">
            <a:avLst/>
          </a:prstGeom>
          <a:noFill/>
          <a:ln/>
        </p:spPr>
        <p:txBody>
          <a:bodyPr wrap="square" rtlCol="0" anchor="t"/>
          <a:lstStyle/>
          <a:p>
            <a:pPr indent="0" marL="0">
              <a:buNone/>
            </a:pPr>
            <a:r>
              <a:rPr lang="en-US" sz="1800" b="1" dirty="0">
                <a:solidFill>
                  <a:srgbClr val="0369A1"/>
                </a:solidFill>
                <a:latin typeface="Helvetica" pitchFamily="34" charset="0"/>
                <a:ea typeface="Helvetica" pitchFamily="34" charset="-122"/>
                <a:cs typeface="Helvetica" pitchFamily="34" charset="-120"/>
              </a:rPr>
              <a:t>• Wet-Lab Validation: </a:t>
            </a:r>
            <a:pPr indent="0" marL="0">
              <a:buNone/>
            </a:pPr>
            <a:r>
              <a:rPr lang="en-US" sz="1800" dirty="0">
                <a:solidFill>
                  <a:srgbClr val="0F172A"/>
                </a:solidFill>
                <a:latin typeface="Helvetica" pitchFamily="34" charset="0"/>
                <a:ea typeface="Helvetica" pitchFamily="34" charset="-122"/>
                <a:cs typeface="Helvetica" pitchFamily="34" charset="-120"/>
              </a:rPr>
              <a:t>Execution of a $949 Proof-of-Concept synthesis targeting Panel #13 (Kallikrein 2, sequence: EGSCYGTE, -9.72 kcal/mol) using competitive fluorescence-based inhibition assays.
</a:t>
            </a:r>
            <a:pPr indent="0" marL="0">
              <a:buNone/>
            </a:pPr>
            <a:r>
              <a:rPr lang="en-US" sz="1800" b="1" dirty="0">
                <a:solidFill>
                  <a:srgbClr val="0369A1"/>
                </a:solidFill>
                <a:latin typeface="Helvetica" pitchFamily="34" charset="0"/>
                <a:ea typeface="Helvetica" pitchFamily="34" charset="-122"/>
                <a:cs typeface="Helvetica" pitchFamily="34" charset="-120"/>
              </a:rPr>
              <a:t>• Molecular Dynamics Simulations: </a:t>
            </a:r>
            <a:pPr indent="0" marL="0">
              <a:buNone/>
            </a:pPr>
            <a:r>
              <a:rPr lang="en-US" sz="1800" dirty="0">
                <a:solidFill>
                  <a:srgbClr val="0F172A"/>
                </a:solidFill>
                <a:latin typeface="Helvetica" pitchFamily="34" charset="0"/>
                <a:ea typeface="Helvetica" pitchFamily="34" charset="-122"/>
                <a:cs typeface="Helvetica" pitchFamily="34" charset="-120"/>
              </a:rPr>
              <a:t>Integrate GROMACS MD to validate physical binding pocket stability over temporal 100ns durations.</a:t>
            </a:r>
            <a:endParaRPr lang="en-US" sz="1800" dirty="0"/>
          </a:p>
        </p:txBody>
      </p:sp>
      <p:sp>
        <p:nvSpPr>
          <p:cNvPr id="47" name="Shape 42"/>
          <p:cNvSpPr/>
          <p:nvPr/>
        </p:nvSpPr>
        <p:spPr>
          <a:xfrm>
            <a:off x="29260800" y="22219920"/>
            <a:ext cx="13258800" cy="1097280"/>
          </a:xfrm>
          <a:prstGeom prst="rect">
            <a:avLst/>
          </a:prstGeom>
          <a:solidFill>
            <a:srgbClr val="0B192C"/>
          </a:solidFill>
          <a:ln/>
        </p:spPr>
      </p:sp>
      <p:sp>
        <p:nvSpPr>
          <p:cNvPr id="48" name="Text 43"/>
          <p:cNvSpPr/>
          <p:nvPr/>
        </p:nvSpPr>
        <p:spPr>
          <a:xfrm>
            <a:off x="29260800" y="22219920"/>
            <a:ext cx="13258800" cy="1097280"/>
          </a:xfrm>
          <a:prstGeom prst="rect">
            <a:avLst/>
          </a:prstGeom>
          <a:noFill/>
          <a:ln/>
        </p:spPr>
        <p:txBody>
          <a:bodyPr wrap="square" rtlCol="0" anchor="ctr"/>
          <a:lstStyle/>
          <a:p>
            <a:pPr algn="ctr" indent="0" marL="0">
              <a:buNone/>
            </a:pPr>
            <a:r>
              <a:rPr lang="en-US" sz="3200" b="1" dirty="0">
                <a:solidFill>
                  <a:srgbClr val="FFFFFF"/>
                </a:solidFill>
                <a:latin typeface="Helvetica" pitchFamily="34" charset="0"/>
                <a:ea typeface="Helvetica" pitchFamily="34" charset="-122"/>
                <a:cs typeface="Helvetica" pitchFamily="34" charset="-120"/>
              </a:rPr>
              <a:t>CONCLUSION</a:t>
            </a:r>
            <a:endParaRPr lang="en-US" sz="3200" dirty="0"/>
          </a:p>
        </p:txBody>
      </p:sp>
      <p:sp>
        <p:nvSpPr>
          <p:cNvPr id="49" name="Shape 44"/>
          <p:cNvSpPr/>
          <p:nvPr/>
        </p:nvSpPr>
        <p:spPr>
          <a:xfrm>
            <a:off x="29260800" y="23500080"/>
            <a:ext cx="13258800" cy="6400800"/>
          </a:xfrm>
          <a:prstGeom prst="rect">
            <a:avLst/>
          </a:prstGeom>
          <a:solidFill>
            <a:srgbClr val="F8FAFC"/>
          </a:solidFill>
          <a:ln/>
        </p:spPr>
      </p:sp>
      <p:sp>
        <p:nvSpPr>
          <p:cNvPr id="50" name="Text 45"/>
          <p:cNvSpPr/>
          <p:nvPr/>
        </p:nvSpPr>
        <p:spPr>
          <a:xfrm>
            <a:off x="29718000" y="23682960"/>
            <a:ext cx="12344400" cy="2286000"/>
          </a:xfrm>
          <a:prstGeom prst="rect">
            <a:avLst/>
          </a:prstGeom>
          <a:noFill/>
          <a:ln/>
        </p:spPr>
        <p:txBody>
          <a:bodyPr wrap="square" rtlCol="0" anchor="t"/>
          <a:lstStyle/>
          <a:p>
            <a:pPr indent="0" marL="0">
              <a:buNone/>
            </a:pPr>
            <a:r>
              <a:rPr lang="en-US" sz="1800" b="1" dirty="0">
                <a:solidFill>
                  <a:srgbClr val="0F172A"/>
                </a:solidFill>
                <a:latin typeface="Helvetica" pitchFamily="34" charset="0"/>
                <a:ea typeface="Helvetica" pitchFamily="34" charset="-122"/>
                <a:cs typeface="Helvetica" pitchFamily="34" charset="-120"/>
              </a:rPr>
              <a:t>This pipeline is the first study to successfully execute a highly coordinated 3-stage computational generative sequence on all 27 distinct, critical human sepsis proteases simultaneously. Utilizing PrismGAN we screened nearly 800 geometric combinations—producing a diverse, stable 27-peptide panel optimized for future clinical synthesis.</a:t>
            </a:r>
            <a:endParaRPr lang="en-US" sz="1800" dirty="0"/>
          </a:p>
        </p:txBody>
      </p:sp>
      <p:pic>
        <p:nvPicPr>
          <p:cNvPr id="51" name="Image 3" descr="/Users/pranavdivichenchu/Documents/AET Senior Research/presentation_images/11_multi_protease_panel.png">    </p:cNvPr>
          <p:cNvPicPr>
            <a:picLocks noChangeAspect="1"/>
          </p:cNvPicPr>
          <p:nvPr/>
        </p:nvPicPr>
        <p:blipFill>
          <a:blip r:embed="rId4"/>
          <a:srcRect l="0" r="0" t="0" b="0"/>
          <a:stretch/>
        </p:blipFill>
        <p:spPr>
          <a:xfrm>
            <a:off x="29718000" y="26060400"/>
            <a:ext cx="12344400" cy="3200400"/>
          </a:xfrm>
          <a:prstGeom prst="rect">
            <a:avLst/>
          </a:prstGeom>
        </p:spPr>
      </p:pic>
      <p:sp>
        <p:nvSpPr>
          <p:cNvPr id="52" name="Text 46"/>
          <p:cNvSpPr/>
          <p:nvPr/>
        </p:nvSpPr>
        <p:spPr>
          <a:xfrm>
            <a:off x="29718000" y="29260800"/>
            <a:ext cx="12344400" cy="457200"/>
          </a:xfrm>
          <a:prstGeom prst="rect">
            <a:avLst/>
          </a:prstGeom>
          <a:noFill/>
          <a:ln/>
        </p:spPr>
        <p:txBody>
          <a:bodyPr wrap="square" rtlCol="0" anchor="ctr"/>
          <a:lstStyle/>
          <a:p>
            <a:pPr algn="ctr" indent="0" marL="0">
              <a:buNone/>
            </a:pPr>
            <a:r>
              <a:rPr lang="en-US" sz="1000" i="1" dirty="0">
                <a:solidFill>
                  <a:srgbClr val="475569"/>
                </a:solidFill>
              </a:rPr>
              <a:t>Image created by Finalist using PyMOL.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0" cy="4114800"/>
          </a:xfrm>
          <a:prstGeom prst="rect">
            <a:avLst/>
          </a:prstGeom>
          <a:solidFill>
            <a:srgbClr val="0B192C"/>
          </a:solidFill>
          <a:ln/>
        </p:spPr>
      </p:sp>
      <p:sp>
        <p:nvSpPr>
          <p:cNvPr id="3" name="Text 1"/>
          <p:cNvSpPr/>
          <p:nvPr/>
        </p:nvSpPr>
        <p:spPr>
          <a:xfrm>
            <a:off x="914400" y="457200"/>
            <a:ext cx="42062400" cy="3200400"/>
          </a:xfrm>
          <a:prstGeom prst="rect">
            <a:avLst/>
          </a:prstGeom>
          <a:noFill/>
          <a:ln/>
        </p:spPr>
        <p:txBody>
          <a:bodyPr wrap="square" rtlCol="0" anchor="ctr"/>
          <a:lstStyle/>
          <a:p>
            <a:pPr algn="ctr" indent="0" marL="0">
              <a:buNone/>
            </a:pPr>
            <a:r>
              <a:rPr lang="en-US" sz="5000" b="1" dirty="0">
                <a:solidFill>
                  <a:srgbClr val="14B8A6"/>
                </a:solidFill>
                <a:latin typeface="Helvetica" pitchFamily="34" charset="0"/>
                <a:ea typeface="Helvetica" pitchFamily="34" charset="-122"/>
                <a:cs typeface="Helvetica" pitchFamily="34" charset="-120"/>
              </a:rPr>
              <a:t>REFERENCES</a:t>
            </a:r>
            <a:endParaRPr lang="en-US" sz="5000" dirty="0"/>
          </a:p>
        </p:txBody>
      </p:sp>
      <p:sp>
        <p:nvSpPr>
          <p:cNvPr id="4" name="Text 2"/>
          <p:cNvSpPr/>
          <p:nvPr/>
        </p:nvSpPr>
        <p:spPr>
          <a:xfrm>
            <a:off x="1828800" y="5486400"/>
            <a:ext cx="40233600" cy="22860000"/>
          </a:xfrm>
          <a:prstGeom prst="rect">
            <a:avLst/>
          </a:prstGeom>
          <a:noFill/>
          <a:ln/>
        </p:spPr>
        <p:txBody>
          <a:bodyPr wrap="square" rtlCol="0" anchor="t"/>
          <a:lstStyle/>
          <a:p>
            <a:pPr algn="l" indent="0" marL="0">
              <a:buNone/>
            </a:pPr>
            <a:r>
              <a:rPr lang="en-US" sz="2000" dirty="0">
                <a:solidFill>
                  <a:srgbClr val="0F172A"/>
                </a:solidFill>
                <a:latin typeface="Helvetica" pitchFamily="34" charset="0"/>
                <a:ea typeface="Helvetica" pitchFamily="34" charset="-122"/>
                <a:cs typeface="Helvetica" pitchFamily="34" charset="-120"/>
              </a:rPr>
              <a:t>1. Goodfellow, I., Pouget-Abadie, J., Mirza, M., et al. (2014). Generative adversarial nets. Advances in Neural Information Processing Systems, 27.
</a:t>
            </a:r>
            <a:pPr algn="l" indent="0" marL="0">
              <a:buNone/>
            </a:pPr>
            <a:r>
              <a:rPr lang="en-US" sz="2000" dirty="0">
                <a:solidFill>
                  <a:srgbClr val="0F172A"/>
                </a:solidFill>
                <a:latin typeface="Helvetica" pitchFamily="34" charset="0"/>
                <a:ea typeface="Helvetica" pitchFamily="34" charset="-122"/>
                <a:cs typeface="Helvetica" pitchFamily="34" charset="-120"/>
              </a:rPr>
              <a:t>2. Rawlings, N.D., Barrett, A.J., Thomas, P.D., et al. (2018). The MEROPS database of proteolytic enzymes, their substrates and inhibitors in 2017. Nucleic Acids Research, 46(D1), D624–D632.
</a:t>
            </a:r>
            <a:pPr algn="l" indent="0" marL="0">
              <a:buNone/>
            </a:pPr>
            <a:r>
              <a:rPr lang="en-US" sz="2000" dirty="0">
                <a:solidFill>
                  <a:srgbClr val="0F172A"/>
                </a:solidFill>
                <a:latin typeface="Helvetica" pitchFamily="34" charset="0"/>
                <a:ea typeface="Helvetica" pitchFamily="34" charset="-122"/>
                <a:cs typeface="Helvetica" pitchFamily="34" charset="-120"/>
              </a:rPr>
              <a:t>3. Trott, O., &amp; Olson, A.J. (2010). AutoDock Vina: Improving the speed and accuracy of docking with a new scoring function. Journal of Computational Chemistry, 31(2), 455–461.
</a:t>
            </a:r>
            <a:pPr algn="l" indent="0" marL="0">
              <a:buNone/>
            </a:pPr>
            <a:r>
              <a:rPr lang="en-US" sz="2000" dirty="0">
                <a:solidFill>
                  <a:srgbClr val="0F172A"/>
                </a:solidFill>
                <a:latin typeface="Helvetica" pitchFamily="34" charset="0"/>
                <a:ea typeface="Helvetica" pitchFamily="34" charset="-122"/>
                <a:cs typeface="Helvetica" pitchFamily="34" charset="-120"/>
              </a:rPr>
              <a:t>4. Lin, Z., Akin, H., Rao, R., et al. (2023). Evolutionary-scale prediction of atomic-level protein structure with a language model. Science, 379(6637), 1123–1130.
</a:t>
            </a:r>
            <a:pPr algn="l" indent="0" marL="0">
              <a:buNone/>
            </a:pPr>
            <a:r>
              <a:rPr lang="en-US" sz="2000" dirty="0">
                <a:solidFill>
                  <a:srgbClr val="0F172A"/>
                </a:solidFill>
                <a:latin typeface="Helvetica" pitchFamily="34" charset="0"/>
                <a:ea typeface="Helvetica" pitchFamily="34" charset="-122"/>
                <a:cs typeface="Helvetica" pitchFamily="34" charset="-120"/>
              </a:rPr>
              <a:t>5. Schechter, I., &amp; Berger, A. (1967). On the size of the active site in proteases. I. Papain. Biochemical and Biophysical Research Communications, 27(2), 157–162.
</a:t>
            </a:r>
            <a:pPr algn="l" indent="0" marL="0">
              <a:buNone/>
            </a:pPr>
            <a:r>
              <a:rPr lang="en-US" sz="2000" dirty="0">
                <a:solidFill>
                  <a:srgbClr val="0F172A"/>
                </a:solidFill>
                <a:latin typeface="Helvetica" pitchFamily="34" charset="0"/>
                <a:ea typeface="Helvetica" pitchFamily="34" charset="-122"/>
                <a:cs typeface="Helvetica" pitchFamily="34" charset="-120"/>
              </a:rPr>
              <a:t>6. Miyato, T., Kataoka, T., Koyama, M., &amp; Yoshida, Y. (2018). Spectral normalization for generative adversarial networks. ICLR 2018.
</a:t>
            </a:r>
            <a:pPr algn="l" indent="0" marL="0">
              <a:buNone/>
            </a:pPr>
            <a:r>
              <a:rPr lang="en-US" sz="2000" dirty="0">
                <a:solidFill>
                  <a:srgbClr val="0F172A"/>
                </a:solidFill>
                <a:latin typeface="Helvetica" pitchFamily="34" charset="0"/>
                <a:ea typeface="Helvetica" pitchFamily="34" charset="-122"/>
                <a:cs typeface="Helvetica" pitchFamily="34" charset="-120"/>
              </a:rPr>
              <a:t>7. Singer, M., Deutschman, C.S., Seymour, C.W., et al. (2016). The Third International Consensus Definitions for Sepsis and Septic Shock (Sepsis-3). JAMA, 315(8), 801–810.</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2026-03-04T00:12:37Z</dcterms:created>
  <dcterms:modified xsi:type="dcterms:W3CDTF">2026-03-04T00:12:37Z</dcterms:modified>
</cp:coreProperties>
</file>